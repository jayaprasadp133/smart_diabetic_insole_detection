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6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927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2118241"/>
            <a:ext cx="2081927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2192179"/>
            <a:ext cx="17859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PATENT APPLICATION</a:t>
            </a:r>
            <a:endParaRPr lang="en-US" sz="1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2661047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Smart Insole System for Early Detection of Diabetic Foot Ulcer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3798" y="4162306"/>
            <a:ext cx="7543324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Using IoT and Machine Learning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798" y="509337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Applicants:</a:t>
            </a: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Jaya Prasad P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798" y="574119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Inventors:</a:t>
            </a: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 </a:t>
            </a:r>
            <a:r>
              <a:rPr lang="en-IN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Jaya Prasad P, Sanjay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Gunaseelan B, Danush 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5E8863-4B6C-1585-555D-D6688A507E72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531" y="55439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Patent Abstract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90798" y="2320463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This invention proposes a smart insole system for continuous monitoring of plantar pressure, temperature, and moisture levels using embedded sensors.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0798" y="3847426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Data is transmitted via an IoT-enabled microcontroller to a cloud platform where machine learning algorithms analyze abnormal patterns, providing early warnings for diabetic foot ulcer risk.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0797" y="5585723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The solution is cost-effective, wearable, and suitable for continuous real-time monitoring, enabling timely medical intervention.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7A349-848A-AF09-3DC3-6A6384C006E0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771" y="1114185"/>
            <a:ext cx="1169550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Prior Art: Existing vs. Proposed Systems</a:t>
            </a:r>
            <a:endParaRPr lang="en-US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02465" y="294622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Existing System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2331" y="3853442"/>
            <a:ext cx="6150293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Periodic clinical examination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Pressure mats and lab-based systems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Lack of continuous monitoring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No real-time alerts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Limited portability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42462" y="294622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Proposed System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42462" y="3853442"/>
            <a:ext cx="6150293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Wearable smart insole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Continuous real-time monitoring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Multi-parameter sensing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Machine learning-based risk detection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IoT connectivity with alerts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8637EC-21BF-EE06-E6BC-0500117682B6}"/>
              </a:ext>
            </a:extLst>
          </p:cNvPr>
          <p:cNvSpPr/>
          <p:nvPr/>
        </p:nvSpPr>
        <p:spPr>
          <a:xfrm>
            <a:off x="12527280" y="7389693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6798" y="1286101"/>
            <a:ext cx="920900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Beneficiaries &amp; Cost Advantage</a:t>
            </a:r>
            <a:endParaRPr lang="en-US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316903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Beneficiaries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4194691"/>
            <a:ext cx="615029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Diabetic patients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Hospitals and clinics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Elderly individuals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Home healthcare providers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17937" y="3316903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Cost Advantage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40973" y="4232249"/>
            <a:ext cx="615029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Low-cost components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Portable and reusable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Reduces hospital visits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Prevents expensive surgeries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382AA-8F67-3B6E-96F7-7206D7296C25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979" y="308761"/>
            <a:ext cx="5847636" cy="61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System Block Diagram</a:t>
            </a:r>
            <a:endParaRPr lang="en-US" sz="3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686700" y="6151498"/>
            <a:ext cx="2682517" cy="33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&amp; Alerts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686700" y="4853070"/>
            <a:ext cx="2682517" cy="33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Cloud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86700" y="3567757"/>
            <a:ext cx="2682517" cy="33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ESP32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86700" y="2269328"/>
            <a:ext cx="2682517" cy="33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Sensors</a:t>
            </a:r>
            <a:endParaRPr lang="en-US" sz="2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9B280B-13EA-6534-B8F2-380AAB236A48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69C180-C2F1-9439-EB59-8815F4E93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79" y="1005840"/>
            <a:ext cx="12942017" cy="7182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00319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Key </a:t>
            </a:r>
            <a:r>
              <a:rPr lang="en-US" sz="4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Patent</a:t>
            </a:r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 Claims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795230"/>
            <a:ext cx="6327934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795230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30725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1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535" y="3571161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Smart insole integrating pressure, temperature, and humidity sensors.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38549" y="2795230"/>
            <a:ext cx="6328053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8069" y="2795230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7807285" y="307252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2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07285" y="3571161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IoT-based communication module for real-time data transmission.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3798" y="4835604"/>
            <a:ext cx="6327934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18" y="4835604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253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3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535" y="5611535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Machine learning model for anomaly detection of ulcer risk.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38549" y="4835604"/>
            <a:ext cx="6328053" cy="1793558"/>
          </a:xfrm>
          <a:prstGeom prst="roundRect">
            <a:avLst>
              <a:gd name="adj" fmla="val 815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8069" y="4835604"/>
            <a:ext cx="121920" cy="1793558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780728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4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07285" y="5611535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Wearable design embedded within a standard shoe insole.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920261-68C9-59EF-A1CE-496C9052D41C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318" y="1725514"/>
            <a:ext cx="731651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Additional Patent Claims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3165396"/>
            <a:ext cx="6327934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3165396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344269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5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535" y="3941326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Mobile or web interface for monitoring and alerts.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38549" y="3165396"/>
            <a:ext cx="6328053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8069" y="3165396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7807285" y="344269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6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07285" y="3941326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Low-power system suitable for daily use.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3798" y="4835604"/>
            <a:ext cx="6327934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318" y="4835604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253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7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535" y="5611535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Personalized baseline learning mechanism.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38549" y="4835604"/>
            <a:ext cx="6328053" cy="1423392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8069" y="4835604"/>
            <a:ext cx="121920" cy="142339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780728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Claim 8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07285" y="5611535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latin typeface="Cambria" panose="02040503050406030204" pitchFamily="18" charset="0"/>
                <a:ea typeface="Cambria" panose="02040503050406030204" pitchFamily="18" charset="0"/>
                <a:cs typeface="Source Sans 3" pitchFamily="34" charset="-120"/>
              </a:rPr>
              <a:t>Early warning alert system for medical intervention.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D942A7-85DE-FBF7-981B-597638E91115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417" y="38851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References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8926" y="1205293"/>
            <a:ext cx="13121710" cy="547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A. J. M. Boulton et al., “The global burden of diabetic foot disease,” The Lancet, 2005.</a:t>
            </a:r>
            <a:endParaRPr lang="en-IN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D. G. Armstrong and L. A. Lavery, “Diabetic foot ulcers: Prevention, diagnosis and classification,” American Family Physician, 1998.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B. Ali et al., “Graphene-Based Smart Insole Sensor for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Pedobarometry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and Gait Analysis,” IEEE Sensors Letters, 2023.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H. R. K. M. Emani et al., “Smart Insole: A Wireless Gait Monitoring and Pressure Distribution Device,” IEEE Conference, 2023.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J. Gao et al., “Stand-Alone Soft 3-Axis Force Sensing Array in a Shoe,” IEEE Sensors Conference, 2023.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S. Patel et al., “Wearable Sensors in Rehabilitation,” Journal of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NeuroEngineering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and Rehabilitation, 2012.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F. T. Liu et al., “Isolation Forest,” IEEE ICDM, 2008.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A. Zanella et al., “Internet of Things for Smart Cities,” IEEE Internet of Things Journal, 2014.</a:t>
            </a:r>
            <a:endParaRPr lang="en-IN" sz="36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910BD-9A3D-9862-B561-410A32F2ED35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3413641"/>
            <a:ext cx="11219617" cy="1402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 Bold" pitchFamily="34" charset="-120"/>
              </a:rPr>
              <a:t>Thank You</a:t>
            </a:r>
            <a:endParaRPr lang="en-US" sz="8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4D122F-5AE1-F352-17A3-12132EA9EDAF}"/>
              </a:ext>
            </a:extLst>
          </p:cNvPr>
          <p:cNvSpPr/>
          <p:nvPr/>
        </p:nvSpPr>
        <p:spPr>
          <a:xfrm>
            <a:off x="12469091" y="7381702"/>
            <a:ext cx="2103120" cy="781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479</Words>
  <Application>Microsoft Office PowerPoint</Application>
  <PresentationFormat>Custom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Cambria</vt:lpstr>
      <vt:lpstr>Montserrat Bold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Jaya Prasad P</dc:creator>
  <cp:lastModifiedBy>Jaya Prasad P</cp:lastModifiedBy>
  <cp:revision>3</cp:revision>
  <cp:lastPrinted>2026-02-27T06:38:26Z</cp:lastPrinted>
  <dcterms:created xsi:type="dcterms:W3CDTF">2026-02-27T02:17:08Z</dcterms:created>
  <dcterms:modified xsi:type="dcterms:W3CDTF">2026-02-27T07:29:43Z</dcterms:modified>
</cp:coreProperties>
</file>